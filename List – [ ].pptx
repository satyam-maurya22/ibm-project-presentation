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F03CF8-B38E-4934-BD92-A263B9FA4560}">
          <p14:sldIdLst>
            <p14:sldId id="256"/>
            <p14:sldId id="257"/>
            <p14:sldId id="261"/>
            <p14:sldId id="258"/>
            <p14:sldId id="259"/>
            <p14:sldId id="260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9600" dirty="0" smtClean="0">
                <a:solidFill>
                  <a:srgbClr val="0070C0"/>
                </a:solidFill>
                <a:latin typeface="Algerian" panose="04020705040A02060702" pitchFamily="82" charset="0"/>
              </a:rPr>
              <a:t>List</a:t>
            </a:r>
            <a:r>
              <a:rPr lang="en-GB" sz="9600" dirty="0" smtClean="0">
                <a:latin typeface="Algerian" panose="04020705040A02060702" pitchFamily="82" charset="0"/>
              </a:rPr>
              <a:t> – [ ]</a:t>
            </a:r>
            <a:endParaRPr lang="en-IN" sz="9600" dirty="0">
              <a:latin typeface="Algerian" panose="04020705040A02060702" pitchFamily="82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692397" y="3657596"/>
            <a:ext cx="2432053" cy="1390653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en-GB" sz="7400" dirty="0" smtClean="0">
                <a:solidFill>
                  <a:srgbClr val="FF0000"/>
                </a:solidFill>
                <a:latin typeface="Bernard MT Condensed" panose="02050806060905020404" pitchFamily="18" charset="0"/>
              </a:rPr>
              <a:t>Presented by :-</a:t>
            </a:r>
          </a:p>
          <a:p>
            <a:pPr algn="l"/>
            <a:r>
              <a:rPr lang="en-GB" sz="4300" dirty="0" smtClean="0">
                <a:latin typeface="Elephant" panose="02020904090505020303" pitchFamily="18" charset="0"/>
              </a:rPr>
              <a:t>   Satyam  </a:t>
            </a:r>
            <a:r>
              <a:rPr lang="en-GB" sz="4300" dirty="0" err="1" smtClean="0">
                <a:latin typeface="Elephant" panose="02020904090505020303" pitchFamily="18" charset="0"/>
              </a:rPr>
              <a:t>Maurya</a:t>
            </a:r>
            <a:r>
              <a:rPr lang="en-GB" sz="4300" dirty="0" smtClean="0">
                <a:latin typeface="Elephant" panose="02020904090505020303" pitchFamily="18" charset="0"/>
              </a:rPr>
              <a:t> </a:t>
            </a:r>
          </a:p>
          <a:p>
            <a:pPr algn="l"/>
            <a:r>
              <a:rPr lang="en-GB" sz="4300" dirty="0" smtClean="0">
                <a:latin typeface="Elephant" panose="02020904090505020303" pitchFamily="18" charset="0"/>
              </a:rPr>
              <a:t>   Shantanu  Singh</a:t>
            </a:r>
          </a:p>
          <a:p>
            <a:pPr algn="l"/>
            <a:r>
              <a:rPr lang="en-GB" sz="4300" dirty="0" smtClean="0">
                <a:latin typeface="Elephant" panose="02020904090505020303" pitchFamily="18" charset="0"/>
              </a:rPr>
              <a:t>   Satyam  </a:t>
            </a:r>
            <a:r>
              <a:rPr lang="en-GB" sz="4300" dirty="0" err="1" smtClean="0">
                <a:latin typeface="Elephant" panose="02020904090505020303" pitchFamily="18" charset="0"/>
              </a:rPr>
              <a:t>Vishwakarma</a:t>
            </a:r>
            <a:r>
              <a:rPr lang="en-GB" sz="4300" dirty="0" smtClean="0">
                <a:latin typeface="Elephant" panose="02020904090505020303" pitchFamily="18" charset="0"/>
              </a:rPr>
              <a:t> </a:t>
            </a:r>
          </a:p>
          <a:p>
            <a:pPr algn="l"/>
            <a:endParaRPr lang="en-GB" dirty="0" smtClean="0"/>
          </a:p>
        </p:txBody>
      </p:sp>
      <p:pic>
        <p:nvPicPr>
          <p:cNvPr id="5" name="Picture 4" descr="&lt;strong&gt;Python&lt;/strong&gt; - Wikibook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3470" y="238123"/>
            <a:ext cx="942972" cy="94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317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 smtClean="0">
                <a:latin typeface="Bernard MT Condensed" panose="02050806060905020404" pitchFamily="18" charset="0"/>
              </a:rPr>
              <a:t>1.  What is List ?</a:t>
            </a:r>
            <a:endParaRPr lang="en-IN" sz="5400" dirty="0">
              <a:latin typeface="Bernard MT Condensed" panose="020508060609050204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200" dirty="0">
                <a:latin typeface="Bahnschrift Condensed" panose="020B0502040204020203" pitchFamily="34" charset="0"/>
              </a:rPr>
              <a:t>A list in Python is a </a:t>
            </a:r>
            <a:r>
              <a:rPr lang="en-GB" sz="3200" b="1" dirty="0">
                <a:latin typeface="Bahnschrift Condensed" panose="020B0502040204020203" pitchFamily="34" charset="0"/>
              </a:rPr>
              <a:t>mutable</a:t>
            </a:r>
            <a:r>
              <a:rPr lang="en-GB" sz="3200" dirty="0">
                <a:latin typeface="Bahnschrift Condensed" panose="020B0502040204020203" pitchFamily="34" charset="0"/>
              </a:rPr>
              <a:t> (i.e., changeable) sequence of elements. It can hold a mix of different data types, like integers, strings, </a:t>
            </a:r>
            <a:r>
              <a:rPr lang="en-GB" sz="3200" dirty="0" smtClean="0">
                <a:latin typeface="Bahnschrift Condensed" panose="020B0502040204020203" pitchFamily="34" charset="0"/>
              </a:rPr>
              <a:t>Booleans , </a:t>
            </a:r>
            <a:r>
              <a:rPr lang="en-GB" sz="3200" dirty="0">
                <a:latin typeface="Bahnschrift Condensed" panose="020B0502040204020203" pitchFamily="34" charset="0"/>
              </a:rPr>
              <a:t>and even other lists or objects. Lists are ordered, meaning the elements have a defined order, and you can access them by their position or index</a:t>
            </a:r>
            <a:r>
              <a:rPr lang="en-GB" dirty="0"/>
              <a:t>.</a:t>
            </a:r>
            <a:endParaRPr lang="en-IN" dirty="0"/>
          </a:p>
        </p:txBody>
      </p:sp>
      <p:pic>
        <p:nvPicPr>
          <p:cNvPr id="4" name="Picture 3" descr="&lt;strong&gt;Python&lt;/strong&gt; - Wikibook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111" y="790573"/>
            <a:ext cx="942972" cy="94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958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Bernard MT Condensed" panose="02050806060905020404" pitchFamily="18" charset="0"/>
              </a:rPr>
              <a:t>2.Built in function</a:t>
            </a:r>
            <a:endParaRPr lang="en-IN" dirty="0">
              <a:latin typeface="Bernard MT Condensed" panose="020508060609050204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338963"/>
            <a:ext cx="7744428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Here are some important methods that you can use with lists: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append( x )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: Adds an element x to the 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extend(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iterable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)  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: Adds all elements from an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iterable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(like another list) to the 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insert( I , x )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: Inserts x at index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remove( x )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: Removes the first occurrence of 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pop( [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] )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: Removes and returns the element at index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(or the last element).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index( x )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: Returns the index of the first occurrence of 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count( x )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: Returns the number of occurrences of 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sort( )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: Sorts the list in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reverse( )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: Reverses the list in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 clear( )    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: Removes all elements from the 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&lt;strong&gt;Python&lt;/strong&gt; - Wikibook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112" y="771523"/>
            <a:ext cx="942972" cy="94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26087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ernard MT Condensed" panose="02050806060905020404" pitchFamily="18" charset="0"/>
              </a:rPr>
              <a:t>3</a:t>
            </a:r>
            <a:r>
              <a:rPr lang="en-GB" dirty="0" smtClean="0">
                <a:latin typeface="Bernard MT Condensed" panose="02050806060905020404" pitchFamily="18" charset="0"/>
              </a:rPr>
              <a:t>.</a:t>
            </a:r>
            <a:r>
              <a:rPr lang="en-IN" dirty="0" smtClean="0">
                <a:latin typeface="Bernard MT Condensed" panose="02050806060905020404" pitchFamily="18" charset="0"/>
              </a:rPr>
              <a:t>  </a:t>
            </a:r>
            <a:r>
              <a:rPr lang="en-IN" b="1" dirty="0">
                <a:latin typeface="Bernard MT Condensed" panose="02050806060905020404" pitchFamily="18" charset="0"/>
              </a:rPr>
              <a:t>Creating a List</a:t>
            </a:r>
            <a:endParaRPr lang="en-IN" dirty="0">
              <a:latin typeface="Bernard MT Condensed" panose="020508060609050204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591858"/>
            <a:ext cx="705802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A list is created by placing items inside square brackets [ ] </a:t>
            </a:r>
            <a:r>
              <a:rPr lang="en-IN" sz="1800" dirty="0" smtClean="0">
                <a:latin typeface="Bahnschrift Condensed" panose="020B0502040204020203" pitchFamily="34" charset="0"/>
              </a:rPr>
              <a:t>separated </a:t>
            </a:r>
            <a:r>
              <a:rPr lang="en-IN" sz="1800" dirty="0">
                <a:latin typeface="Bahnschrift Condensed" panose="020B0502040204020203" pitchFamily="34" charset="0"/>
              </a:rPr>
              <a:t>by commas</a:t>
            </a:r>
            <a:r>
              <a:rPr lang="en-IN" sz="1800" dirty="0" smtClean="0">
                <a:latin typeface="Bahnschrift Condensed" panose="020B0502040204020203" pitchFamily="34" charset="0"/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1800" dirty="0" smtClean="0">
              <a:latin typeface="Bahnschrift Condensed" panose="020B0502040204020203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1800" dirty="0" smtClean="0">
                <a:solidFill>
                  <a:srgbClr val="00B050"/>
                </a:solidFill>
                <a:latin typeface="Bahnschrift Condensed" panose="020B0502040204020203" pitchFamily="34" charset="0"/>
              </a:rPr>
              <a:t>  # </a:t>
            </a:r>
            <a:r>
              <a:rPr lang="en-GB" altLang="en-US" sz="1800" dirty="0">
                <a:solidFill>
                  <a:srgbClr val="00B050"/>
                </a:solidFill>
                <a:latin typeface="Bahnschrift Condensed" panose="020B0502040204020203" pitchFamily="34" charset="0"/>
              </a:rPr>
              <a:t>Creating a simple list of integers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   numbers 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= [</a:t>
            </a:r>
            <a:r>
              <a:rPr lang="en-GB" altLang="en-US" sz="18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1, 2, 3, 4, 5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]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GB" altLang="en-US" sz="18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   fruits 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= ["</a:t>
            </a:r>
            <a:r>
              <a:rPr lang="en-GB" altLang="en-US" sz="18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apple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", "</a:t>
            </a:r>
            <a:r>
              <a:rPr lang="en-GB" altLang="en-US" sz="18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banana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", "</a:t>
            </a:r>
            <a:r>
              <a:rPr lang="en-GB" altLang="en-US" sz="18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cherry</a:t>
            </a: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"]       </a:t>
            </a:r>
            <a:r>
              <a:rPr lang="en-GB" altLang="en-US" sz="1800" dirty="0">
                <a:solidFill>
                  <a:srgbClr val="00B050"/>
                </a:solidFill>
                <a:latin typeface="Bahnschrift Condensed" panose="020B0502040204020203" pitchFamily="34" charset="0"/>
              </a:rPr>
              <a:t># A list of strings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GB" altLang="en-US" sz="18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   mixed 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= </a:t>
            </a: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[ </a:t>
            </a:r>
            <a:r>
              <a:rPr lang="en-GB" altLang="en-US" sz="1800" dirty="0" smtClean="0">
                <a:solidFill>
                  <a:srgbClr val="00B0F0"/>
                </a:solidFill>
                <a:latin typeface="Bahnschrift Condensed" panose="020B0502040204020203" pitchFamily="34" charset="0"/>
              </a:rPr>
              <a:t>1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, "</a:t>
            </a:r>
            <a:r>
              <a:rPr lang="en-GB" altLang="en-US" sz="18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apple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", </a:t>
            </a:r>
            <a:r>
              <a:rPr lang="en-GB" altLang="en-US" sz="1800" dirty="0">
                <a:solidFill>
                  <a:srgbClr val="00B0F0"/>
                </a:solidFill>
                <a:latin typeface="Bahnschrift Condensed" panose="020B0502040204020203" pitchFamily="34" charset="0"/>
              </a:rPr>
              <a:t>3.14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, </a:t>
            </a:r>
            <a:r>
              <a:rPr lang="en-GB" altLang="en-US" sz="18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True</a:t>
            </a: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]        </a:t>
            </a:r>
            <a:r>
              <a:rPr lang="en-GB" altLang="en-US" sz="1800" dirty="0">
                <a:solidFill>
                  <a:srgbClr val="00B050"/>
                </a:solidFill>
                <a:latin typeface="Bahnschrift Condensed" panose="020B0502040204020203" pitchFamily="34" charset="0"/>
              </a:rPr>
              <a:t># A mixed data type list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GB" altLang="en-US" sz="18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   </a:t>
            </a:r>
            <a:r>
              <a:rPr lang="en-GB" altLang="en-US" sz="1800" dirty="0" err="1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Empty_list</a:t>
            </a: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= </a:t>
            </a: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[  ]       </a:t>
            </a:r>
            <a:r>
              <a:rPr lang="en-GB" altLang="en-US" sz="1800" dirty="0" smtClean="0">
                <a:solidFill>
                  <a:srgbClr val="00B050"/>
                </a:solidFill>
                <a:latin typeface="Bahnschrift Condensed" panose="020B0502040204020203" pitchFamily="34" charset="0"/>
              </a:rPr>
              <a:t># </a:t>
            </a:r>
            <a:r>
              <a:rPr lang="en-GB" altLang="en-US" sz="1800" dirty="0">
                <a:solidFill>
                  <a:srgbClr val="00B050"/>
                </a:solidFill>
                <a:latin typeface="Bahnschrift Condensed" panose="020B0502040204020203" pitchFamily="34" charset="0"/>
              </a:rPr>
              <a:t>An empty </a:t>
            </a:r>
            <a:r>
              <a:rPr lang="en-GB" altLang="en-US" sz="1800" dirty="0" smtClean="0">
                <a:solidFill>
                  <a:srgbClr val="00B050"/>
                </a:solidFill>
                <a:latin typeface="Bahnschrift Condensed" panose="020B0502040204020203" pitchFamily="34" charset="0"/>
              </a:rPr>
              <a:t>list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GB" altLang="en-US" sz="18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   </a:t>
            </a:r>
            <a:r>
              <a:rPr lang="en-GB" altLang="en-US" sz="1800" dirty="0" err="1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Nested_list</a:t>
            </a: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= </a:t>
            </a: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[ [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1, 2</a:t>
            </a: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] , 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[3, 4</a:t>
            </a: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] , </a:t>
            </a:r>
            <a:r>
              <a:rPr lang="en-GB" altLang="en-US" sz="18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[5, 6</a:t>
            </a:r>
            <a:r>
              <a:rPr lang="en-GB" altLang="en-US" sz="18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] ]     </a:t>
            </a:r>
            <a:r>
              <a:rPr lang="en-GB" altLang="en-US" sz="1800" dirty="0" smtClean="0">
                <a:solidFill>
                  <a:srgbClr val="00B050"/>
                </a:solidFill>
                <a:latin typeface="Bahnschrift Condensed" panose="020B0502040204020203" pitchFamily="34" charset="0"/>
              </a:rPr>
              <a:t># A list of lists (nested list)</a:t>
            </a:r>
            <a:endParaRPr lang="en-GB" altLang="en-US" sz="1800" dirty="0">
              <a:solidFill>
                <a:srgbClr val="00B050"/>
              </a:solidFill>
              <a:latin typeface="Bahnschrift Condensed" panose="020B0502040204020203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GB" altLang="en-US" sz="18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</p:txBody>
      </p:sp>
      <p:pic>
        <p:nvPicPr>
          <p:cNvPr id="5" name="Picture 4" descr="&lt;strong&gt;Python&lt;/strong&gt; - Wikibook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112" y="819148"/>
            <a:ext cx="942972" cy="94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6028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Bernard MT Condensed" panose="02050806060905020404" pitchFamily="18" charset="0"/>
              </a:rPr>
              <a:t>4. </a:t>
            </a:r>
            <a:r>
              <a:rPr lang="en-IN" b="1" dirty="0">
                <a:latin typeface="Bernard MT Condensed" panose="02050806060905020404" pitchFamily="18" charset="0"/>
              </a:rPr>
              <a:t>Accessing List Elements</a:t>
            </a:r>
            <a:endParaRPr lang="en-IN" dirty="0">
              <a:latin typeface="Bernard MT Condensed" panose="020508060609050204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2" y="2525119"/>
            <a:ext cx="9391649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You can access elements in a list using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indexing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. Indexes in Python start at,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 0 for the first item                                              ,1 for the second item , and so 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2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fruits = ["</a:t>
            </a:r>
            <a:r>
              <a:rPr lang="en-GB" altLang="en-US" sz="20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apple</a:t>
            </a:r>
            <a:r>
              <a:rPr lang="en-GB" altLang="en-US" sz="2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", "</a:t>
            </a:r>
            <a:r>
              <a:rPr lang="en-GB" altLang="en-US" sz="20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banana</a:t>
            </a:r>
            <a:r>
              <a:rPr lang="en-GB" altLang="en-US" sz="2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", "</a:t>
            </a:r>
            <a:r>
              <a:rPr lang="en-GB" altLang="en-US" sz="20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cherry</a:t>
            </a:r>
            <a:r>
              <a:rPr lang="en-GB" altLang="en-US" sz="2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"]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GB" altLang="en-US" sz="20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2000" dirty="0">
                <a:solidFill>
                  <a:srgbClr val="00B050"/>
                </a:solidFill>
                <a:latin typeface="Bahnschrift Condensed" panose="020B0502040204020203" pitchFamily="34" charset="0"/>
              </a:rPr>
              <a:t># Accessing the first element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2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print(fruits[0])  </a:t>
            </a:r>
            <a:r>
              <a:rPr lang="en-GB" altLang="en-US" sz="2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                </a:t>
            </a:r>
            <a:r>
              <a:rPr lang="en-GB" altLang="en-US" sz="2000" dirty="0" smtClean="0">
                <a:solidFill>
                  <a:srgbClr val="00B050"/>
                </a:solidFill>
                <a:latin typeface="Bahnschrift Condensed" panose="020B0502040204020203" pitchFamily="34" charset="0"/>
              </a:rPr>
              <a:t># </a:t>
            </a:r>
            <a:r>
              <a:rPr lang="en-GB" altLang="en-US" sz="2000" dirty="0">
                <a:solidFill>
                  <a:srgbClr val="00B050"/>
                </a:solidFill>
                <a:latin typeface="Bahnschrift Condensed" panose="020B0502040204020203" pitchFamily="34" charset="0"/>
              </a:rPr>
              <a:t>Output: "apple"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2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</a:t>
            </a:r>
            <a:endParaRPr lang="en-GB" altLang="en-US" sz="20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2000" dirty="0">
                <a:solidFill>
                  <a:srgbClr val="00B050"/>
                </a:solidFill>
                <a:latin typeface="Bahnschrift Condensed" panose="020B0502040204020203" pitchFamily="34" charset="0"/>
              </a:rPr>
              <a:t># Accessing the last element (negative index)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altLang="en-US" sz="20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print(fruits[-1])  </a:t>
            </a:r>
            <a:r>
              <a:rPr lang="en-GB" altLang="en-US" sz="20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               </a:t>
            </a:r>
            <a:r>
              <a:rPr lang="en-GB" altLang="en-US" sz="2000" dirty="0" smtClean="0">
                <a:solidFill>
                  <a:srgbClr val="00B050"/>
                </a:solidFill>
                <a:latin typeface="Bahnschrift Condensed" panose="020B0502040204020203" pitchFamily="34" charset="0"/>
              </a:rPr>
              <a:t># </a:t>
            </a:r>
            <a:r>
              <a:rPr lang="en-GB" altLang="en-US" sz="2000" dirty="0">
                <a:solidFill>
                  <a:srgbClr val="00B050"/>
                </a:solidFill>
                <a:latin typeface="Bahnschrift Condensed" panose="020B0502040204020203" pitchFamily="34" charset="0"/>
              </a:rPr>
              <a:t>Output: "cherry"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52400" y="69250"/>
            <a:ext cx="1408881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&lt;strong&gt;Python&lt;/strong&gt; - Wikibook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112" y="819148"/>
            <a:ext cx="942972" cy="94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1253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Bernard MT Condensed" panose="02050806060905020404" pitchFamily="18" charset="0"/>
              </a:rPr>
              <a:t>5. </a:t>
            </a:r>
            <a:r>
              <a:rPr lang="en-IN" b="1" dirty="0">
                <a:latin typeface="Bernard MT Condensed" panose="02050806060905020404" pitchFamily="18" charset="0"/>
              </a:rPr>
              <a:t>Slicing Lists</a:t>
            </a:r>
            <a:endParaRPr lang="en-IN" dirty="0">
              <a:latin typeface="Bernard MT Condensed" panose="02050806060905020404" pitchFamily="18" charset="0"/>
            </a:endParaRPr>
          </a:p>
        </p:txBody>
      </p:sp>
      <p:pic>
        <p:nvPicPr>
          <p:cNvPr id="4" name="Picture 3" descr="&lt;strong&gt;Python&lt;/strong&gt; - Wikibook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112" y="819148"/>
            <a:ext cx="942972" cy="942972"/>
          </a:xfrm>
          <a:prstGeom prst="rect">
            <a:avLst/>
          </a:prstGeom>
        </p:spPr>
      </p:pic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90623" y="2448983"/>
            <a:ext cx="97059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You can extract a portion (a "slice") of a list using the slicing syntax [start : end].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numbers = [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Bahnschrift Condensed" panose="020B0502040204020203" pitchFamily="34" charset="0"/>
              </a:rPr>
              <a:t>1, 2, 3, 4, 5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]      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Bahnschrift Condensed" panose="020B0502040204020203" pitchFamily="34" charset="0"/>
              </a:rPr>
              <a:t># Extracting elements from index 1 to 3 (excluding 4)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print(numbers [1 : 4])        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Bahnschrift Condensed" panose="020B0502040204020203" pitchFamily="34" charset="0"/>
              </a:rPr>
              <a:t># Output: [2, 3, 4] # Slicing with a step (skip every second element)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 Condensed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 Condensed" panose="020B0502040204020203" pitchFamily="34" charset="0"/>
              </a:rPr>
              <a:t>print(numbers [: : 2])              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Bahnschrift Condensed" panose="020B0502040204020203" pitchFamily="34" charset="0"/>
              </a:rPr>
              <a:t># Output: [1, 3, 5]</a:t>
            </a:r>
          </a:p>
        </p:txBody>
      </p:sp>
    </p:spTree>
    <p:extLst>
      <p:ext uri="{BB962C8B-B14F-4D97-AF65-F5344CB8AC3E}">
        <p14:creationId xmlns:p14="http://schemas.microsoft.com/office/powerpoint/2010/main" val="3054450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&lt;strong&gt;Thank&lt;/strong&gt; &lt;strong&gt;You&lt;/strong&gt; Nautilus-Pompilius Text Free Stock Photo - Public Domain Picture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970" y="1869948"/>
            <a:ext cx="7970938" cy="2644902"/>
          </a:xfrm>
          <a:prstGeom prst="rect">
            <a:avLst/>
          </a:prstGeom>
        </p:spPr>
      </p:pic>
      <p:pic>
        <p:nvPicPr>
          <p:cNvPr id="3" name="Picture 2" descr="&lt;strong&gt;Python&lt;/strong&gt; - Wiki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112" y="819148"/>
            <a:ext cx="942972" cy="94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6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62</TotalTime>
  <Words>541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Bahnschrift Condensed</vt:lpstr>
      <vt:lpstr>Bernard MT Condensed</vt:lpstr>
      <vt:lpstr>Elephant</vt:lpstr>
      <vt:lpstr>Garamond</vt:lpstr>
      <vt:lpstr>Organic</vt:lpstr>
      <vt:lpstr>List – [ ]</vt:lpstr>
      <vt:lpstr>1.  What is List ?</vt:lpstr>
      <vt:lpstr>2.Built in function</vt:lpstr>
      <vt:lpstr>3.  Creating a List</vt:lpstr>
      <vt:lpstr>4. Accessing List Elements</vt:lpstr>
      <vt:lpstr>5. Slicing Lists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– [ ]</dc:title>
  <dc:creator>student</dc:creator>
  <cp:lastModifiedBy>student</cp:lastModifiedBy>
  <cp:revision>8</cp:revision>
  <dcterms:created xsi:type="dcterms:W3CDTF">2025-12-02T03:45:01Z</dcterms:created>
  <dcterms:modified xsi:type="dcterms:W3CDTF">2025-12-02T04:47:51Z</dcterms:modified>
</cp:coreProperties>
</file>